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owd-approval-additions-advancement.trycloudflar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914400"/>
            <a:ext cx="1188720" cy="1188720"/>
          </a:xfrm>
          <a:prstGeom prst="ellipse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828800"/>
            <a:ext cx="731520" cy="731520"/>
          </a:xfrm>
          <a:prstGeom prst="ellipse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2103120"/>
            <a:ext cx="457200" cy="457200"/>
          </a:xfrm>
          <a:prstGeom prst="ellipse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731520"/>
            <a:ext cx="1874519" cy="310896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749808"/>
            <a:ext cx="1801367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4682"/>
                </a:solidFill>
                <a:latin typeface="Aptos"/>
              </a:rPr>
              <a:t>AI FRONTIER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813816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F4682"/>
                </a:solidFill>
                <a:latin typeface="Aptos"/>
              </a:rPr>
              <a:t>The Conversational
Shopping Assistant That Doesn’t 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70408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5E00"/>
                </a:solidFill>
                <a:latin typeface="Aptos"/>
              </a:rPr>
              <a:t>Shop smarter. Trust every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6858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32B37"/>
                </a:solidFill>
                <a:latin typeface="Aptos"/>
              </a:rPr>
              <a:t>An evidence-grounded AI shopping copilot that compares products, explains recommendations, and says “I don’t know” when the catalog can’t prove an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96128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7"/>
                </a:solidFill>
                <a:latin typeface="Aptos"/>
              </a:rPr>
              <a:t>Answers tied to catalog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52578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TRANSPARENT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5596128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7"/>
                </a:solidFill>
                <a:latin typeface="Aptos"/>
              </a:rPr>
              <a:t>Explains why it recommends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257800"/>
            <a:ext cx="2286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SAFE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596128"/>
            <a:ext cx="23317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777"/>
                </a:solidFill>
                <a:latin typeface="Aptos"/>
              </a:rPr>
              <a:t>No guessing on price or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40480"/>
            <a:ext cx="28346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4682"/>
                </a:solidFill>
                <a:latin typeface="Aptos"/>
              </a:rPr>
              <a:t>ROUND 1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15968"/>
            <a:ext cx="28346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B6777"/>
                </a:solidFill>
                <a:latin typeface="Aptos"/>
              </a:rPr>
              <a:t>Team: [Enter Team Name]
Leader: [Enter Leader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519672"/>
            <a:ext cx="7772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TRACK: RETAIL  •  PROJECT 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19672"/>
            <a:ext cx="12801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CE7F9"/>
                </a:solidFill>
                <a:latin typeface="Aptos"/>
              </a:rPr>
              <a:t>PROBLEM +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AI FRONTIER CHALLENGE 2026  •  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47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02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5212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682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32B37"/>
                </a:solidFill>
                <a:latin typeface="Aptos"/>
              </a:rPr>
              <a:t>Shopping chatbots can sound confident while inventing or mixing up product 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5074920" cy="187451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Customers get vague answers about compatibility, ingredients, sizing, warranties, and features.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Wrong price or availability claims break trust and can drive returns or abandoned purchases.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Retail teams struggle to keep answers aligned with changing product catalogs.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349240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73152" cy="1234440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97863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WHO IS AFFECTED?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581912"/>
            <a:ext cx="498347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B37"/>
                </a:solidFill>
                <a:latin typeface="Aptos"/>
              </a:rPr>
              <a:t>Online shoppers, customer-support teams, e-commerce managers, and retailers with large or frequently changing catalogs.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5349240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514600"/>
            <a:ext cx="73152" cy="123444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66090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WHY NOW?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044952"/>
            <a:ext cx="498347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B37"/>
                </a:solidFill>
                <a:latin typeface="Aptos"/>
              </a:rPr>
              <a:t>Customers expect natural-language help—but trust depends on evidence, freshness, and clear uncertainty.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77639"/>
            <a:ext cx="5349240" cy="1234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77639"/>
            <a:ext cx="73152" cy="1234440"/>
          </a:xfrm>
          <a:prstGeom prst="rect">
            <a:avLst/>
          </a:prstGeom>
          <a:solidFill>
            <a:srgbClr val="1C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4123944"/>
            <a:ext cx="49834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OUR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507992"/>
            <a:ext cx="4983479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32B37"/>
                </a:solidFill>
                <a:latin typeface="Aptos"/>
              </a:rPr>
              <a:t>Make every product answer traceable to a source, with live-data checks for price and stock.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5E00"/>
                </a:solidFill>
                <a:latin typeface="Aptos"/>
              </a:rPr>
              <a:t>INITIAL BEACHHEAD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10912"/>
            <a:ext cx="5029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32B37"/>
                </a:solidFill>
                <a:latin typeface="Aptos"/>
              </a:rPr>
              <a:t>Start with electronics and lifestyle retail—categories where shoppers compare specifications, fit, and trade-offs.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B6777"/>
                </a:solidFill>
                <a:latin typeface="Aptos"/>
              </a:rPr>
              <a:t>Market sizing is intentionally framed as a validation task; we will quantify the reachable segment using retailer interviews and pilot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CE7F9"/>
                </a:solidFill>
                <a:latin typeface="Aptos"/>
              </a:rPr>
              <a:t>WHAT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AI FRONTIER CHALLENGE 2026  •  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47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03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5029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4682"/>
                </a:solidFill>
                <a:latin typeface="Aptos"/>
              </a:rPr>
              <a:t>MEET TRUSTCART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4892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32B37"/>
                </a:solidFill>
                <a:latin typeface="Aptos"/>
              </a:rPr>
              <a:t>A shopping copilot that answers from evidence—not vibes.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800600" cy="23774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Ask naturally: “Which headphones are best for calls under ₹5,000?”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Compare products against the shopper’s budget and must-have needs.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Show the exact product facts supporting each answer.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 If evidence is missing or stale, ask a follow-up or clearly abstain.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83480"/>
            <a:ext cx="1508760" cy="310896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001768"/>
            <a:ext cx="1435607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F4682"/>
                </a:solidFill>
                <a:latin typeface="Aptos"/>
              </a:rPr>
              <a:t>SOURCE-LINKED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4288" y="4983480"/>
            <a:ext cx="1508760" cy="310896"/>
          </a:xfrm>
          <a:prstGeom prst="round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40864" y="5001768"/>
            <a:ext cx="1435607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5E00"/>
                </a:solidFill>
                <a:latin typeface="Aptos"/>
              </a:rPr>
              <a:t>BUDGET-AWARE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0208" y="4983480"/>
            <a:ext cx="1508760" cy="310896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6784" y="5001768"/>
            <a:ext cx="1435607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9164"/>
                </a:solidFill>
                <a:latin typeface="Aptos"/>
              </a:rPr>
              <a:t>UNCERTAINTY-AWARE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051560"/>
            <a:ext cx="5806440" cy="4892040"/>
          </a:xfrm>
          <a:prstGeom prst="roundRect">
            <a:avLst/>
          </a:prstGeom>
          <a:solidFill>
            <a:srgbClr val="FAFC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234440"/>
            <a:ext cx="5257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TRUSTCART  /  SHOPPING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737360"/>
            <a:ext cx="4251960" cy="68580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847088"/>
            <a:ext cx="38862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32B37"/>
                </a:solidFill>
                <a:latin typeface="Aptos"/>
              </a:rPr>
              <a:t>Need wireless headphones under ₹5,000 for calls.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69748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Here are two catalog-backed options: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063240"/>
            <a:ext cx="246888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063240"/>
            <a:ext cx="73152" cy="1508760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209544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Option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593592"/>
            <a:ext cx="2103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2B37"/>
                </a:solidFill>
                <a:latin typeface="Aptos"/>
              </a:rPr>
              <a:t>₹4,499 • 30-hour battery
Mic: dual noise reduction
Evidence: spec sheet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063240"/>
            <a:ext cx="2468880" cy="1508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3063240"/>
            <a:ext cx="73152" cy="150876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9408" y="3209544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Option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3593592"/>
            <a:ext cx="2103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32B37"/>
                </a:solidFill>
                <a:latin typeface="Aptos"/>
              </a:rPr>
              <a:t>₹3,999 • 25-hour battery
Mic: single mic
Evidence: product listing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828032"/>
            <a:ext cx="5074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9164"/>
                </a:solidFill>
                <a:latin typeface="Aptos"/>
              </a:rPr>
              <a:t>Why A? Better stated call-mic features. Price/stock must be checked live before checkout.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559552"/>
            <a:ext cx="5120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777"/>
                </a:solidFill>
                <a:latin typeface="Aptos"/>
              </a:rPr>
              <a:t>Illustrative UI with sample data — not a live retailer feed.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Design Steps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CE7F9"/>
                </a:solidFill>
                <a:latin typeface="Aptos"/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AI FRONTIER CHALLENGE 2026  •  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47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04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682"/>
                </a:solidFill>
                <a:latin typeface="Aptos"/>
              </a:rPr>
              <a:t>IMPLEMENTATION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44752"/>
            <a:ext cx="4800600" cy="868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44752"/>
            <a:ext cx="73152" cy="868680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91056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1 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75104"/>
            <a:ext cx="4434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Normalize catalog fields, FAQs, policies, and product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96312"/>
            <a:ext cx="4800600" cy="868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496312"/>
            <a:ext cx="73152" cy="868680"/>
          </a:xfrm>
          <a:prstGeom prst="rect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42616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2 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026664"/>
            <a:ext cx="4434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Find relevant products and supporting evidence for the query.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47872"/>
            <a:ext cx="4800600" cy="868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547872"/>
            <a:ext cx="73152" cy="868680"/>
          </a:xfrm>
          <a:prstGeom prst="rect">
            <a:avLst/>
          </a:prstGeom>
          <a:solidFill>
            <a:srgbClr val="1C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694176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3  Generate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78224"/>
            <a:ext cx="4434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Constrain the LLM to retrieved facts; attach source 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99431"/>
            <a:ext cx="4800600" cy="868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599431"/>
            <a:ext cx="73152" cy="868680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745736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4  Verify + 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129783"/>
            <a:ext cx="4434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Check price/stock freshness, detect missing evidence, abstain when needed.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960120"/>
            <a:ext cx="5715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682"/>
                </a:solidFill>
                <a:latin typeface="Aptos"/>
              </a:rPr>
              <a:t>SYSTEM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1554480"/>
            <a:ext cx="1417320" cy="713232"/>
          </a:xfrm>
          <a:prstGeom prst="roundRect">
            <a:avLst/>
          </a:prstGeom>
          <a:solidFill>
            <a:srgbClr val="E8F4FC"/>
          </a:solidFill>
          <a:ln>
            <a:solidFill>
              <a:srgbClr val="1F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645920"/>
            <a:ext cx="13258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Shopper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554480"/>
            <a:ext cx="1554480" cy="713232"/>
          </a:xfrm>
          <a:prstGeom prst="roundRect">
            <a:avLst/>
          </a:prstGeom>
          <a:solidFill>
            <a:srgbClr val="FFF1E8"/>
          </a:solidFill>
          <a:ln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45920"/>
            <a:ext cx="1463039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5E00"/>
                </a:solidFill>
                <a:latin typeface="Aptos"/>
              </a:rPr>
              <a:t>API / Guardrails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1554480"/>
            <a:ext cx="1417320" cy="713232"/>
          </a:xfrm>
          <a:prstGeom prst="roundRect">
            <a:avLst/>
          </a:prstGeom>
          <a:solidFill>
            <a:srgbClr val="E8F4FC"/>
          </a:solidFill>
          <a:ln>
            <a:solidFill>
              <a:srgbClr val="1F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1645920"/>
            <a:ext cx="13258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LLM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3063240"/>
            <a:ext cx="1417320" cy="777240"/>
          </a:xfrm>
          <a:prstGeom prst="roundRect">
            <a:avLst/>
          </a:prstGeom>
          <a:solidFill>
            <a:srgbClr val="E8F7EF"/>
          </a:solidFill>
          <a:ln>
            <a:solidFill>
              <a:srgbClr val="1C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154680"/>
            <a:ext cx="1325880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C9164"/>
                </a:solidFill>
                <a:latin typeface="Aptos"/>
              </a:rPr>
              <a:t>Catalog +
Policies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063240"/>
            <a:ext cx="1554480" cy="777240"/>
          </a:xfrm>
          <a:prstGeom prst="roundRect">
            <a:avLst/>
          </a:prstGeom>
          <a:solidFill>
            <a:srgbClr val="E8F4FC"/>
          </a:solidFill>
          <a:ln>
            <a:solidFill>
              <a:srgbClr val="1F4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154680"/>
            <a:ext cx="1463039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4682"/>
                </a:solidFill>
                <a:latin typeface="Aptos"/>
              </a:rPr>
              <a:t>Retriever /
Evidence 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21240" y="3063240"/>
            <a:ext cx="1417320" cy="777240"/>
          </a:xfrm>
          <a:prstGeom prst="roundRect">
            <a:avLst/>
          </a:prstGeom>
          <a:solidFill>
            <a:srgbClr val="FFF1E8"/>
          </a:solidFill>
          <a:ln>
            <a:solidFill>
              <a:srgbClr val="FF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154680"/>
            <a:ext cx="1325880" cy="5943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5E00"/>
                </a:solidFill>
                <a:latin typeface="Aptos"/>
              </a:rPr>
              <a:t>Price + stock
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4709160"/>
            <a:ext cx="1965960" cy="731520"/>
          </a:xfrm>
          <a:prstGeom prst="roundRect">
            <a:avLst/>
          </a:prstGeom>
          <a:solidFill>
            <a:srgbClr val="E8F7EF"/>
          </a:solidFill>
          <a:ln>
            <a:solidFill>
              <a:srgbClr val="1C9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4800600"/>
            <a:ext cx="1874519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C9164"/>
                </a:solidFill>
                <a:latin typeface="Aptos"/>
              </a:rPr>
              <a:t>Verifier +
Citations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0" y="1901952"/>
            <a:ext cx="502920" cy="0"/>
          </a:xfrm>
          <a:prstGeom prst="line">
            <a:avLst/>
          </a:prstGeom>
          <a:ln w="25400">
            <a:solidFill>
              <a:srgbClr val="00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72600" y="1901952"/>
            <a:ext cx="548640" cy="0"/>
          </a:xfrm>
          <a:prstGeom prst="line">
            <a:avLst/>
          </a:prstGeom>
          <a:ln w="25400">
            <a:solidFill>
              <a:srgbClr val="00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01968" y="2267712"/>
            <a:ext cx="0" cy="795528"/>
          </a:xfrm>
          <a:prstGeom prst="line">
            <a:avLst/>
          </a:prstGeom>
          <a:ln w="25400">
            <a:solidFill>
              <a:srgbClr val="00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15200" y="3447288"/>
            <a:ext cx="502920" cy="0"/>
          </a:xfrm>
          <a:prstGeom prst="line">
            <a:avLst/>
          </a:prstGeom>
          <a:ln w="25400">
            <a:solidFill>
              <a:srgbClr val="00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72600" y="3447288"/>
            <a:ext cx="548640" cy="0"/>
          </a:xfrm>
          <a:prstGeom prst="line">
            <a:avLst/>
          </a:prstGeom>
          <a:ln w="25400">
            <a:solidFill>
              <a:srgbClr val="00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95360" y="2267712"/>
            <a:ext cx="0" cy="795528"/>
          </a:xfrm>
          <a:prstGeom prst="line">
            <a:avLst/>
          </a:prstGeom>
          <a:ln w="25400">
            <a:solidFill>
              <a:srgbClr val="009D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9326880" y="3840480"/>
            <a:ext cx="1298448" cy="868680"/>
          </a:xfrm>
          <a:prstGeom prst="line">
            <a:avLst/>
          </a:prstGeom>
          <a:ln w="25400">
            <a:solidFill>
              <a:srgbClr val="FF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66760" y="3840480"/>
            <a:ext cx="182880" cy="868680"/>
          </a:xfrm>
          <a:prstGeom prst="line">
            <a:avLst/>
          </a:prstGeom>
          <a:ln w="25400">
            <a:solidFill>
              <a:srgbClr val="1C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6720840" y="2267712"/>
            <a:ext cx="914400" cy="2807208"/>
          </a:xfrm>
          <a:prstGeom prst="line">
            <a:avLst/>
          </a:prstGeom>
          <a:ln w="25400">
            <a:solidFill>
              <a:srgbClr val="1C91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97880" y="571500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B6777"/>
                </a:solidFill>
                <a:latin typeface="Aptos"/>
              </a:rPr>
              <a:t>Core principle: the model drafts; evidence and verification decide what may be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Challenges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CE7F9"/>
                </a:solidFill>
                <a:latin typeface="Aptos"/>
              </a:rPr>
              <a:t>RISK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AI FRONTIER CHALLENGE 2026  •  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47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109270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71016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E3737"/>
                </a:solidFill>
                <a:latin typeface="Aptos"/>
              </a:rPr>
              <a:t>CHALLENGE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Hallucinated product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307592"/>
            <a:ext cx="33375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Risk: fluent answers may contain unsupported specifications.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07592"/>
            <a:ext cx="39319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Mitigation: retrieval-grounded prompts, field-level evidence, claim checks, and an explicit “not found”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16128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16128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C9164"/>
                </a:solidFill>
                <a:latin typeface="Aptos"/>
              </a:rPr>
              <a:t>MITIGATION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109270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71216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5E00"/>
                </a:solidFill>
                <a:latin typeface="Aptos"/>
              </a:rPr>
              <a:t>CHALLENGE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82112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Stale price or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07792"/>
            <a:ext cx="33375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Risk: catalog data changes between browsing and checkout.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07792"/>
            <a:ext cx="39319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Mitigation: timestamp data, re-check price/stock at response or checkout, and label any cached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76148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6148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C9164"/>
                </a:solidFill>
                <a:latin typeface="Aptos"/>
              </a:rPr>
              <a:t>MITIGATION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109270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71416"/>
            <a:ext cx="2743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9DDC"/>
                </a:solidFill>
                <a:latin typeface="Aptos"/>
              </a:rPr>
              <a:t>CHALLENGE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82312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4682"/>
                </a:solidFill>
                <a:latin typeface="Aptos"/>
              </a:rPr>
              <a:t>Ambiguous shopper needs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507992"/>
            <a:ext cx="33375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Risk: recommendations miss budget, region, or compatibility constraints.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507992"/>
            <a:ext cx="39319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Mitigation: ask one focused clarifying question and rank only against stated criteria.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36168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36168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C9164"/>
                </a:solidFill>
                <a:latin typeface="Aptos"/>
              </a:rPr>
              <a:t>MITIGATION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80760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4682"/>
                </a:solidFill>
                <a:latin typeface="Aptos"/>
              </a:rPr>
              <a:t>We will measure grounded-answer rate, unsupported-claim rate, price freshness, and task completion in the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Unique Selling Proposition (USP)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CE7F9"/>
                </a:solidFill>
                <a:latin typeface="Aptos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AI FRONTIER CHALLENGE 2026  •  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47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22402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1732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009DD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38528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PROOF, NOT JUST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42032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Every factual product claim is tied to a catalog field or source snippet.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474720" cy="22402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41732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5E0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38528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HONEST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542032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When evidence is missing, conflicting, or stale, TrustCart asks or abstains instead of guessing.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234440"/>
            <a:ext cx="3474720" cy="22402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1732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C916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938528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EXPLAINABLE TRADE-OFFS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542032"/>
            <a:ext cx="3017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Recommendations are ranked against the shopper’s budget and stated needs—not a hidden generic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682"/>
                </a:solidFill>
                <a:latin typeface="Aptos"/>
              </a:rPr>
              <a:t>COMPETITIVE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5166360" cy="1325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 Generic chatbots optimize for a helpful-sounding answer.</a:t>
            </a:r>
          </a:p>
          <a:p>
            <a:pPr>
              <a:spcAft>
                <a:spcPts val="6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 Traditional filters find products but do not explain nuanced trade-offs.</a:t>
            </a:r>
          </a:p>
          <a:p>
            <a:pPr>
              <a:spcAft>
                <a:spcPts val="6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•  TrustCart combines natural conversation, catalog retrieval, evidence, and abstention.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886200"/>
            <a:ext cx="4937760" cy="1783080"/>
          </a:xfrm>
          <a:prstGeom prst="roundRect">
            <a:avLst/>
          </a:prstGeom>
          <a:solidFill>
            <a:srgbClr val="E8F4FC"/>
          </a:solidFill>
          <a:ln>
            <a:solidFill>
              <a:srgbClr val="009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96512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HOW WE PROVE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480560"/>
            <a:ext cx="4389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Test set: 100 product questions
Track: evidence coverage • factuality • stale-price errors • shopper task 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89320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5E00"/>
                </a:solidFill>
                <a:latin typeface="Aptos"/>
              </a:rPr>
              <a:t>Success is not “the AI always answers.” Success is “the AI answers only when it has enough evidence.”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Demo &amp; Proof of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64592"/>
            <a:ext cx="1783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CCE7F9"/>
                </a:solidFill>
                <a:latin typeface="Aptos"/>
              </a:rPr>
              <a:t>SHOW, DON'T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B6777"/>
                </a:solidFill>
                <a:latin typeface="Aptos"/>
              </a:rPr>
              <a:t>AI FRONTIER CHALLENGE 2026  •  R3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47104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B6777"/>
                </a:solidFill>
                <a:latin typeface="Aptos"/>
              </a:rPr>
              <a:t>07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87552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682"/>
                </a:solidFill>
                <a:latin typeface="Aptos"/>
              </a:rPr>
              <a:t>LIVE DEMO SCRIPT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508760"/>
            <a:ext cx="438912" cy="438912"/>
          </a:xfrm>
          <a:prstGeom prst="ellipse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63624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99616"/>
            <a:ext cx="1371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499616"/>
            <a:ext cx="27432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“Find wireless headphones under ₹5,000 for clear calls.”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468880"/>
            <a:ext cx="438912" cy="438912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59736"/>
            <a:ext cx="1371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59736"/>
            <a:ext cx="27432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Show two catalog items with evidence-backed pros and cons.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429000"/>
            <a:ext cx="438912" cy="438912"/>
          </a:xfrm>
          <a:prstGeom prst="ellipse">
            <a:avLst/>
          </a:prstGeom>
          <a:solidFill>
            <a:srgbClr val="1C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83864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19856"/>
            <a:ext cx="1371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19856"/>
            <a:ext cx="27432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Ask a question the catalog cannot answer.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389120"/>
            <a:ext cx="438912" cy="438912"/>
          </a:xfrm>
          <a:prstGeom prst="ellipse">
            <a:avLst/>
          </a:prstGeom>
          <a:solidFill>
            <a:srgbClr val="1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43984"/>
            <a:ext cx="438912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79976"/>
            <a:ext cx="1371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682"/>
                </a:solidFill>
                <a:latin typeface="Aptos"/>
              </a:rPr>
              <a:t>Prove honesty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379976"/>
            <a:ext cx="27432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32B37"/>
                </a:solidFill>
                <a:latin typeface="Aptos"/>
              </a:rPr>
              <a:t>Assistant says what is unknown and asks for a source or clarifies.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1097280"/>
            <a:ext cx="557784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4682"/>
                </a:solidFill>
                <a:latin typeface="Aptos"/>
              </a:rPr>
              <a:t>PROOF-OF-CONCEPT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28800"/>
            <a:ext cx="4892040" cy="2651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☐ Product catalog loaded (sample data is acceptable)</a:t>
            </a:r>
          </a:p>
          <a:p>
            <a:pPr>
              <a:spcAft>
                <a:spcPts val="10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☐ Natural-language query and follow-up</a:t>
            </a:r>
          </a:p>
          <a:p>
            <a:pPr>
              <a:spcAft>
                <a:spcPts val="10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☐ Product comparison with source references</a:t>
            </a:r>
          </a:p>
          <a:p>
            <a:pPr>
              <a:spcAft>
                <a:spcPts val="10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☐ Unknown-answer / abstention case</a:t>
            </a:r>
          </a:p>
          <a:p>
            <a:pPr>
              <a:spcAft>
                <a:spcPts val="10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☐ Price and stock freshness label</a:t>
            </a:r>
          </a:p>
          <a:p>
            <a:pPr>
              <a:spcAft>
                <a:spcPts val="1000"/>
              </a:spcAft>
              <a:defRPr sz="1300">
                <a:solidFill>
                  <a:srgbClr val="232B37"/>
                </a:solidFill>
                <a:latin typeface="Aptos"/>
              </a:defRPr>
            </a:pPr>
            <a:r>
              <a:t>☐ Small evaluation set with measured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81728"/>
            <a:ext cx="4754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5E00"/>
                </a:solidFill>
                <a:latin typeface="Aptos"/>
                <a:hlinkClick r:id="rId2"/>
              </a:rPr>
              <a:t>Demo link / video: https://crowd-approval-additions-advancement.trycloudflare.com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4682"/>
                </a:solidFill>
                <a:latin typeface="Aptos"/>
              </a:rPr>
              <a:t>Closing line: “Trust is not a chatbot feature. It is a system property—built from evidence, verification, and the courage to say ‘I don’t know.’”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36208"/>
            <a:ext cx="10607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B6777"/>
                </a:solidFill>
                <a:latin typeface="Aptos"/>
              </a:rPr>
              <a:t>Before submission: replace team details, test the demo, insert a real link, and update any metrics only after measuring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